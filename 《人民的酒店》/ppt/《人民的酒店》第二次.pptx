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60"/>
  </p:normalViewPr>
  <p:slideViewPr>
    <p:cSldViewPr snapToGrid="0">
      <p:cViewPr varScale="1">
        <p:scale>
          <a:sx n="44" d="100"/>
          <a:sy n="44" d="100"/>
        </p:scale>
        <p:origin x="36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52894-A76B-4B52-90E8-DA3F2F3919A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BA16-A041-4E41-9E1D-63AA7509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269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52894-A76B-4B52-90E8-DA3F2F3919A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BA16-A041-4E41-9E1D-63AA7509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201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52894-A76B-4B52-90E8-DA3F2F3919A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BA16-A041-4E41-9E1D-63AA7509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326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52894-A76B-4B52-90E8-DA3F2F3919A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BA16-A041-4E41-9E1D-63AA7509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929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52894-A76B-4B52-90E8-DA3F2F3919A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BA16-A041-4E41-9E1D-63AA7509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527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52894-A76B-4B52-90E8-DA3F2F3919A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BA16-A041-4E41-9E1D-63AA7509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310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52894-A76B-4B52-90E8-DA3F2F3919A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BA16-A041-4E41-9E1D-63AA7509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913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52894-A76B-4B52-90E8-DA3F2F3919A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BA16-A041-4E41-9E1D-63AA7509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37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52894-A76B-4B52-90E8-DA3F2F3919A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BA16-A041-4E41-9E1D-63AA7509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798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52894-A76B-4B52-90E8-DA3F2F3919A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BA16-A041-4E41-9E1D-63AA7509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738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52894-A76B-4B52-90E8-DA3F2F3919A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BA16-A041-4E41-9E1D-63AA7509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14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652894-A76B-4B52-90E8-DA3F2F3919A0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4CBA16-A041-4E41-9E1D-63AA7509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310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《</a:t>
            </a:r>
            <a:r>
              <a:rPr lang="zh-CN" altLang="en-US" dirty="0" smtClean="0"/>
              <a:t>人民的酒店</a:t>
            </a:r>
            <a:r>
              <a:rPr lang="en-US" altLang="zh-CN" dirty="0" smtClean="0"/>
              <a:t>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第二期读书会</a:t>
            </a:r>
            <a:endParaRPr lang="en-US" altLang="zh-CN" dirty="0" smtClean="0"/>
          </a:p>
          <a:p>
            <a:r>
              <a:rPr lang="en-US" altLang="zh-CN" dirty="0" smtClean="0"/>
              <a:t>2026.2.21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266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59761"/>
            <a:ext cx="10515600" cy="1325563"/>
          </a:xfrm>
        </p:spPr>
        <p:txBody>
          <a:bodyPr>
            <a:normAutofit fontScale="90000"/>
          </a:bodyPr>
          <a:lstStyle/>
          <a:p>
            <a:pPr lvl="0"/>
            <a:r>
              <a:rPr lang="zh-CN" altLang="zh-CN" sz="2700" b="1" dirty="0"/>
              <a:t>场景假设</a:t>
            </a:r>
            <a:r>
              <a:rPr lang="zh-CN" altLang="zh-CN" sz="2700" dirty="0"/>
              <a:t>：</a:t>
            </a:r>
            <a:r>
              <a:rPr lang="en-US" altLang="zh-CN" sz="2700" dirty="0"/>
              <a:t>“</a:t>
            </a:r>
            <a:r>
              <a:rPr lang="zh-CN" altLang="zh-CN" sz="2700" dirty="0"/>
              <a:t>想象你的公司明天突然宣布实行全面自治，所有领导都被开除，大家平分利润。你觉得第一个月里，你们部门最先崩溃的环节会是什么？开会、干活还是分钱？”</a:t>
            </a:r>
            <a:r>
              <a:rPr lang="zh-CN" altLang="zh-CN" dirty="0"/>
              <a:t/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 smtClean="0"/>
              <a:t>谁</a:t>
            </a:r>
            <a:r>
              <a:rPr lang="zh-CN" altLang="zh-CN" b="1" dirty="0"/>
              <a:t>来干累活？</a:t>
            </a:r>
            <a:endParaRPr lang="zh-CN" altLang="zh-CN" dirty="0"/>
          </a:p>
          <a:p>
            <a:r>
              <a:rPr lang="zh-CN" altLang="zh-CN" b="1" dirty="0" smtClean="0"/>
              <a:t>摸</a:t>
            </a:r>
            <a:r>
              <a:rPr lang="zh-CN" altLang="zh-CN" b="1" dirty="0"/>
              <a:t>鱼怎么办？</a:t>
            </a:r>
            <a:endParaRPr lang="zh-CN" altLang="zh-CN" dirty="0"/>
          </a:p>
          <a:p>
            <a:r>
              <a:rPr lang="zh-CN" altLang="zh-CN" b="1" dirty="0" smtClean="0"/>
              <a:t>平均主义</a:t>
            </a:r>
            <a:r>
              <a:rPr lang="zh-CN" altLang="zh-CN" b="1" dirty="0"/>
              <a:t>？</a:t>
            </a:r>
            <a:endParaRPr lang="zh-CN" altLang="zh-CN" dirty="0"/>
          </a:p>
          <a:p>
            <a:r>
              <a:rPr lang="zh-CN" altLang="zh-CN" b="1" dirty="0" smtClean="0"/>
              <a:t>长远</a:t>
            </a:r>
            <a:r>
              <a:rPr lang="zh-CN" altLang="zh-CN" b="1" dirty="0"/>
              <a:t>发展</a:t>
            </a:r>
            <a:r>
              <a:rPr lang="en-US" altLang="zh-CN" b="1" dirty="0"/>
              <a:t> vs </a:t>
            </a:r>
            <a:r>
              <a:rPr lang="zh-CN" altLang="zh-CN" b="1" dirty="0"/>
              <a:t>分红？</a:t>
            </a:r>
            <a:endParaRPr lang="zh-CN" altLang="zh-CN" dirty="0"/>
          </a:p>
          <a:p>
            <a:r>
              <a:rPr lang="zh-CN" altLang="zh-CN" b="1" dirty="0" smtClean="0"/>
              <a:t>会议</a:t>
            </a:r>
            <a:r>
              <a:rPr lang="zh-CN" altLang="zh-CN" b="1" dirty="0"/>
              <a:t>太多怎么办？</a:t>
            </a:r>
            <a:endParaRPr lang="zh-CN" altLang="zh-CN" dirty="0"/>
          </a:p>
          <a:p>
            <a:r>
              <a:rPr lang="zh-CN" altLang="zh-CN" b="1" dirty="0" smtClean="0"/>
              <a:t>谁</a:t>
            </a:r>
            <a:r>
              <a:rPr lang="zh-CN" altLang="zh-CN" b="1" dirty="0"/>
              <a:t>来当恶人？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AutoShape 2" descr="Uploaded image previe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Uploaded image preview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970" y="1422542"/>
            <a:ext cx="7834967" cy="485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061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39996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理论中的合作社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30989"/>
            <a:ext cx="10515600" cy="5191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 smtClean="0"/>
              <a:t>·</a:t>
            </a:r>
            <a:r>
              <a:rPr lang="zh-CN" altLang="en-US" dirty="0" smtClean="0"/>
              <a:t>乔伊斯</a:t>
            </a:r>
            <a:r>
              <a:rPr lang="en-US" altLang="zh-CN" dirty="0" smtClean="0"/>
              <a:t>·</a:t>
            </a:r>
            <a:r>
              <a:rPr lang="zh-CN" altLang="en-US" dirty="0" smtClean="0"/>
              <a:t>罗斯柴尔德</a:t>
            </a:r>
            <a:r>
              <a:rPr lang="en-US" altLang="zh-CN" dirty="0" smtClean="0"/>
              <a:t>(Joyce Rothschild)</a:t>
            </a:r>
            <a:r>
              <a:rPr lang="zh-CN" altLang="en-US" dirty="0" smtClean="0"/>
              <a:t>考察了</a:t>
            </a:r>
            <a:r>
              <a:rPr lang="en-US" altLang="zh-CN" dirty="0" smtClean="0"/>
              <a:t>20</a:t>
            </a:r>
            <a:r>
              <a:rPr lang="zh-CN" altLang="en-US" dirty="0" smtClean="0"/>
              <a:t>世纪</a:t>
            </a:r>
            <a:r>
              <a:rPr lang="en-US" altLang="zh-CN" dirty="0" smtClean="0"/>
              <a:t>60</a:t>
            </a:r>
            <a:r>
              <a:rPr lang="zh-CN" altLang="en-US" dirty="0" smtClean="0"/>
              <a:t>年代在美 国出现的集体、合作社和公社的浪潮，他将合作社定义为明确拒绝科层制 的“集体主义组织”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	·</a:t>
            </a:r>
            <a:r>
              <a:rPr lang="zh-CN" altLang="en-US" sz="2000" dirty="0" smtClean="0"/>
              <a:t>科层制是非个人的、分等级的组织，由遵循规则并做出决策，以实现实际目的的参</a:t>
            </a:r>
            <a:r>
              <a:rPr lang="en-US" altLang="zh-CN" sz="2000" dirty="0" smtClean="0"/>
              <a:t>	</a:t>
            </a:r>
            <a:r>
              <a:rPr lang="zh-CN" altLang="en-US" sz="2000" dirty="0" smtClean="0"/>
              <a:t>与者组成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·</a:t>
            </a:r>
            <a:r>
              <a:rPr lang="zh-CN" altLang="en-US" sz="2000" dirty="0" smtClean="0"/>
              <a:t>集体主义组织分配权力，采用最低限度的规则，优先考虑社会关系，并应用民主参</a:t>
            </a:r>
            <a:r>
              <a:rPr lang="en-US" altLang="zh-CN" sz="2000" dirty="0" smtClean="0"/>
              <a:t>	</a:t>
            </a:r>
            <a:r>
              <a:rPr lang="zh-CN" altLang="en-US" sz="2000" dirty="0" smtClean="0"/>
              <a:t>与原则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en-US" altLang="zh-CN" dirty="0" smtClean="0"/>
              <a:t>·</a:t>
            </a:r>
            <a:r>
              <a:rPr lang="zh-CN" altLang="en-US" dirty="0" smtClean="0"/>
              <a:t>凯瑟琳</a:t>
            </a:r>
            <a:r>
              <a:rPr lang="en-US" altLang="zh-CN" dirty="0" smtClean="0"/>
              <a:t>·</a:t>
            </a:r>
            <a:r>
              <a:rPr lang="zh-CN" altLang="en-US" dirty="0" smtClean="0"/>
              <a:t>陈（</a:t>
            </a:r>
            <a:r>
              <a:rPr lang="en-US" altLang="zh-CN" dirty="0" smtClean="0"/>
              <a:t>2009</a:t>
            </a:r>
            <a:r>
              <a:rPr lang="zh-CN" altLang="en-US" dirty="0" smtClean="0"/>
              <a:t>）在最近呼吁关注具体的组织实践和结果，而不 是依赖于组织类型的静态分类（不管是科层制的或集体主义的）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en-US" altLang="zh-CN" sz="2000" dirty="0" smtClean="0"/>
              <a:t>·</a:t>
            </a:r>
            <a:r>
              <a:rPr lang="zh-CN" altLang="en-US" sz="2000" dirty="0" smtClean="0"/>
              <a:t>组织者如何发展充分的形式化和协调机制来策划一个大型活动，同时保持对成员利</a:t>
            </a:r>
            <a:r>
              <a:rPr lang="en-US" altLang="zh-CN" sz="2000" dirty="0" smtClean="0"/>
              <a:t>	</a:t>
            </a:r>
            <a:r>
              <a:rPr lang="zh-CN" altLang="en-US" sz="2000" dirty="0" smtClean="0"/>
              <a:t>益的问责。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193594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95262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权力的分配与民主的暗流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6653"/>
            <a:ext cx="10932886" cy="5199289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正式的关系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	</a:t>
            </a:r>
            <a:r>
              <a:rPr lang="en-US" altLang="zh-CN" sz="2400" b="1" dirty="0" smtClean="0"/>
              <a:t>·</a:t>
            </a:r>
            <a:r>
              <a:rPr lang="zh-CN" altLang="en-US" sz="2400" b="1" dirty="0" smtClean="0"/>
              <a:t>科层制、职位等级、写在纸上的民主规章。</a:t>
            </a:r>
            <a:endParaRPr lang="en-US" altLang="zh-CN" sz="2400" b="1" dirty="0" smtClean="0"/>
          </a:p>
          <a:p>
            <a:pPr marL="0" indent="0">
              <a:buNone/>
            </a:pPr>
            <a:r>
              <a:rPr lang="en-US" altLang="zh-CN" sz="2400" b="1" dirty="0"/>
              <a:t>	</a:t>
            </a:r>
            <a:r>
              <a:rPr lang="en-US" altLang="zh-CN" sz="2400" b="1" dirty="0" smtClean="0"/>
              <a:t>·</a:t>
            </a:r>
            <a:r>
              <a:rPr lang="zh-CN" altLang="en-US" sz="2400" b="1" dirty="0" smtClean="0"/>
              <a:t>作用：协调工作，搭建“平等工程”的骨架。</a:t>
            </a:r>
            <a:endParaRPr lang="en-US" altLang="zh-CN" sz="2400" b="1" dirty="0" smtClean="0"/>
          </a:p>
          <a:p>
            <a:r>
              <a:rPr lang="zh-CN" altLang="en-US" dirty="0" smtClean="0"/>
              <a:t>非正式的关系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·</a:t>
            </a:r>
            <a:r>
              <a:rPr lang="zh-CN" altLang="en-US" sz="2400" b="1" dirty="0" smtClean="0"/>
              <a:t>工友间的友谊、日常互动、人情往来。</a:t>
            </a:r>
            <a:endParaRPr lang="en-US" altLang="zh-CN" sz="2400" b="1" dirty="0" smtClean="0"/>
          </a:p>
          <a:p>
            <a:pPr marL="0" indent="0">
              <a:buNone/>
            </a:pPr>
            <a:r>
              <a:rPr lang="en-US" altLang="zh-CN" sz="2400" b="1" dirty="0"/>
              <a:t>	</a:t>
            </a:r>
            <a:r>
              <a:rPr lang="en-US" altLang="zh-CN" sz="2400" b="1" dirty="0" smtClean="0"/>
              <a:t>·</a:t>
            </a:r>
            <a:r>
              <a:rPr lang="zh-CN" altLang="en-US" sz="2400" b="1" dirty="0" smtClean="0"/>
              <a:t>作用：决定权力在实际中如何流动，以及大家如何“理解”自己的工</a:t>
            </a:r>
            <a:r>
              <a:rPr lang="en-US" altLang="zh-CN" sz="2400" b="1" dirty="0" smtClean="0"/>
              <a:t>	</a:t>
            </a:r>
            <a:r>
              <a:rPr lang="zh-CN" altLang="en-US" sz="2400" b="1" dirty="0" smtClean="0"/>
              <a:t>作</a:t>
            </a:r>
            <a:endParaRPr lang="en-US" altLang="zh-CN" sz="2400" b="1" dirty="0" smtClean="0"/>
          </a:p>
          <a:p>
            <a:pPr marL="0" indent="0">
              <a:buNone/>
            </a:pPr>
            <a:r>
              <a:rPr lang="zh-CN" altLang="en-US" sz="2400" b="1" dirty="0" smtClean="0"/>
              <a:t>。双刃剑</a:t>
            </a:r>
            <a:endParaRPr lang="en-US" altLang="zh-CN" sz="2400" b="1" dirty="0" smtClean="0"/>
          </a:p>
          <a:p>
            <a:pPr marL="0" indent="0">
              <a:buNone/>
            </a:pPr>
            <a:r>
              <a:rPr lang="en-US" altLang="zh-CN" sz="2400" b="1" dirty="0" smtClean="0"/>
              <a:t>	·</a:t>
            </a:r>
            <a:r>
              <a:rPr lang="zh-CN" altLang="en-US" sz="2400" b="1" dirty="0" smtClean="0"/>
              <a:t>结构太弱：人情社会，掩盖不平等，责任感单薄，参与感下降</a:t>
            </a:r>
            <a:endParaRPr lang="en-US" altLang="zh-CN" sz="2400" b="1" dirty="0" smtClean="0"/>
          </a:p>
          <a:p>
            <a:pPr marL="0" indent="0">
              <a:buNone/>
            </a:pPr>
            <a:r>
              <a:rPr lang="en-US" altLang="zh-CN" sz="2400" b="1" dirty="0"/>
              <a:t>	</a:t>
            </a:r>
            <a:r>
              <a:rPr lang="en-US" altLang="zh-CN" sz="2400" b="1" dirty="0" smtClean="0"/>
              <a:t>·</a:t>
            </a:r>
            <a:r>
              <a:rPr lang="zh-CN" altLang="en-US" sz="2400" b="1" dirty="0" smtClean="0"/>
              <a:t>结构太强：规章死板，无人愿遵守，反而倒逼个人权威，成为控制手段</a:t>
            </a:r>
            <a:endParaRPr lang="en-US" altLang="zh-CN" sz="2400" b="1" dirty="0" smtClean="0"/>
          </a:p>
          <a:p>
            <a:pPr marL="0" indent="0">
              <a:buNone/>
            </a:pPr>
            <a:r>
              <a:rPr lang="en-US" altLang="zh-CN" sz="2400" b="1" dirty="0"/>
              <a:t>	</a:t>
            </a:r>
            <a:r>
              <a:rPr lang="en-US" altLang="zh-CN" sz="2400" b="1" dirty="0" smtClean="0"/>
              <a:t>·</a:t>
            </a:r>
            <a:r>
              <a:rPr lang="zh-CN" altLang="en-US" sz="2400" b="1" dirty="0" smtClean="0"/>
              <a:t>怎么办？</a:t>
            </a:r>
            <a:endParaRPr lang="en-US" altLang="zh-CN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3909383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决策和参与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59542"/>
            <a:ext cx="10515600" cy="5457371"/>
          </a:xfrm>
        </p:spPr>
        <p:txBody>
          <a:bodyPr/>
          <a:lstStyle/>
          <a:p>
            <a:r>
              <a:rPr lang="zh-CN" altLang="en-US" dirty="0" smtClean="0"/>
              <a:t>民主的权衡</a:t>
            </a:r>
            <a:endParaRPr lang="en-US" altLang="zh-CN" dirty="0" smtClean="0"/>
          </a:p>
          <a:p>
            <a:pPr lvl="1"/>
            <a:r>
              <a:rPr lang="zh-CN" altLang="en-US" b="1" dirty="0" smtClean="0"/>
              <a:t>参与：规则战胜恐惧，在硬性规则下工人们不会被轻易辞退，于是拥有了发言的安全感。</a:t>
            </a:r>
            <a:endParaRPr lang="en-US" altLang="zh-CN" b="1" dirty="0" smtClean="0"/>
          </a:p>
          <a:p>
            <a:pPr lvl="1"/>
            <a:r>
              <a:rPr lang="zh-CN" altLang="en-US" b="1" dirty="0" smtClean="0"/>
              <a:t>冲突：隐形的专制，与当选官员和老资历的人际冲突风险</a:t>
            </a:r>
            <a:endParaRPr lang="en-US" altLang="zh-CN" b="1" dirty="0" smtClean="0"/>
          </a:p>
          <a:p>
            <a:r>
              <a:rPr lang="zh-CN" altLang="en-US" dirty="0" smtClean="0"/>
              <a:t>参与和等级</a:t>
            </a:r>
            <a:endParaRPr lang="en-US" altLang="zh-CN" b="1" dirty="0" smtClean="0"/>
          </a:p>
          <a:p>
            <a:pPr lvl="1"/>
            <a:r>
              <a:rPr lang="zh-CN" altLang="en-US" b="1" dirty="0" smtClean="0"/>
              <a:t>会开太多，做事却少，导致个体的积极性下降</a:t>
            </a:r>
            <a:endParaRPr lang="en-US" altLang="zh-CN" b="1" dirty="0" smtClean="0"/>
          </a:p>
          <a:p>
            <a:pPr lvl="1"/>
            <a:r>
              <a:rPr lang="zh-CN" altLang="en-US" b="1" dirty="0" smtClean="0"/>
              <a:t>知识水平参差，看不懂数据的人如何参与决策？</a:t>
            </a:r>
            <a:endParaRPr lang="en-US" altLang="zh-CN" b="1" dirty="0" smtClean="0"/>
          </a:p>
          <a:p>
            <a:pPr lvl="1"/>
            <a:r>
              <a:rPr lang="zh-CN" altLang="en-US" b="1" dirty="0" smtClean="0"/>
              <a:t>观察：或许没那么糟</a:t>
            </a:r>
            <a:endParaRPr lang="en-US" altLang="zh-CN" b="1" dirty="0" smtClean="0"/>
          </a:p>
          <a:p>
            <a:r>
              <a:rPr lang="zh-CN" altLang="en-US" dirty="0" smtClean="0"/>
              <a:t>选举和公平</a:t>
            </a:r>
            <a:endParaRPr lang="en-US" altLang="zh-CN" dirty="0" smtClean="0"/>
          </a:p>
          <a:p>
            <a:pPr lvl="1"/>
            <a:r>
              <a:rPr lang="zh-CN" altLang="en-US" b="1" dirty="0" smtClean="0"/>
              <a:t>谣言：对正式沟通渠道的补足和团结的创造，为何谣言能带来好处？</a:t>
            </a:r>
            <a:endParaRPr lang="en-US" altLang="zh-CN" b="1" dirty="0" smtClean="0"/>
          </a:p>
          <a:p>
            <a:pPr lvl="1"/>
            <a:r>
              <a:rPr lang="zh-CN" altLang="en-US" b="1" dirty="0" smtClean="0"/>
              <a:t>友谊与偏袒：成员们会为了谁的利益投票？人情社会的隐忧</a:t>
            </a:r>
            <a:endParaRPr lang="en-US" altLang="zh-CN" b="1" dirty="0" smtClean="0"/>
          </a:p>
          <a:p>
            <a:pPr lvl="1"/>
            <a:r>
              <a:rPr lang="zh-CN" altLang="en-US" b="1" dirty="0" smtClean="0"/>
              <a:t>恩庇主义：用物质好处换取民意</a:t>
            </a:r>
            <a:endParaRPr lang="en-US" altLang="zh-CN" b="1" dirty="0" smtClean="0"/>
          </a:p>
          <a:p>
            <a:pPr lvl="1"/>
            <a:r>
              <a:rPr lang="zh-CN" altLang="en-US" b="1" dirty="0"/>
              <a:t>意想不到</a:t>
            </a:r>
            <a:r>
              <a:rPr lang="zh-CN" altLang="en-US" b="1" dirty="0" smtClean="0"/>
              <a:t>的好处：谣言倒逼制度的自我完善</a:t>
            </a:r>
            <a:endParaRPr lang="en-US" altLang="zh-CN" b="1" dirty="0" smtClean="0"/>
          </a:p>
          <a:p>
            <a:pPr lvl="1"/>
            <a:endParaRPr lang="en-US" altLang="zh-CN" dirty="0" smtClean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681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76439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协商和申诉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33715"/>
            <a:ext cx="10961914" cy="5138056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惩罚的程序</a:t>
            </a:r>
            <a:endParaRPr lang="en-US" altLang="zh-CN" dirty="0" smtClean="0"/>
          </a:p>
          <a:p>
            <a:pPr lvl="1"/>
            <a:r>
              <a:rPr lang="zh-CN" altLang="en-US" b="1" dirty="0" smtClean="0"/>
              <a:t>谁来当裁判？</a:t>
            </a:r>
            <a:r>
              <a:rPr lang="zh-CN" altLang="en-US" dirty="0" smtClean="0"/>
              <a:t> 管理委员会和受托人（独立监督者）共同介入调查与调解。</a:t>
            </a:r>
            <a:endParaRPr lang="en-US" altLang="zh-CN" dirty="0" smtClean="0"/>
          </a:p>
          <a:p>
            <a:pPr lvl="1"/>
            <a:r>
              <a:rPr lang="zh-CN" altLang="en-US" b="1" dirty="0" smtClean="0"/>
              <a:t>渐进式惩罚</a:t>
            </a:r>
            <a:r>
              <a:rPr lang="zh-CN" altLang="en-US" dirty="0" smtClean="0"/>
              <a:t>：口头警告 ➡停薪</a:t>
            </a:r>
            <a:r>
              <a:rPr lang="en-US" altLang="zh-CN" dirty="0" smtClean="0"/>
              <a:t>/</a:t>
            </a:r>
            <a:r>
              <a:rPr lang="zh-CN" altLang="en-US" dirty="0" smtClean="0"/>
              <a:t>停职➡</a:t>
            </a:r>
            <a:r>
              <a:rPr lang="zh-CN" altLang="en-US" b="1" dirty="0" smtClean="0"/>
              <a:t>终极制裁：除名 </a:t>
            </a:r>
            <a:endParaRPr lang="en-US" altLang="zh-CN" b="1" dirty="0" smtClean="0"/>
          </a:p>
          <a:p>
            <a:pPr lvl="1"/>
            <a:r>
              <a:rPr lang="zh-CN" altLang="en-US" b="1" dirty="0" smtClean="0"/>
              <a:t>绝对的红线</a:t>
            </a:r>
            <a:r>
              <a:rPr lang="zh-CN" altLang="en-US" dirty="0" smtClean="0"/>
              <a:t>：</a:t>
            </a:r>
            <a:r>
              <a:rPr lang="zh-CN" altLang="en-US" b="1" dirty="0" smtClean="0"/>
              <a:t>盗窃</a:t>
            </a:r>
            <a:r>
              <a:rPr lang="zh-CN" altLang="en-US" dirty="0" smtClean="0"/>
              <a:t>。这是合作社唯一零容忍、直接剥夺申诉权的死罪</a:t>
            </a:r>
            <a:endParaRPr lang="en-US" altLang="zh-CN" dirty="0" smtClean="0"/>
          </a:p>
          <a:p>
            <a:r>
              <a:rPr lang="zh-CN" altLang="en-US" dirty="0" smtClean="0"/>
              <a:t>申诉</a:t>
            </a:r>
            <a:endParaRPr lang="en-US" altLang="zh-CN" dirty="0" smtClean="0"/>
          </a:p>
          <a:p>
            <a:pPr lvl="1"/>
            <a:r>
              <a:rPr lang="en-US" altLang="zh-CN" b="1" dirty="0" smtClean="0"/>
              <a:t>10% </a:t>
            </a:r>
            <a:r>
              <a:rPr lang="zh-CN" altLang="en-US" b="1" dirty="0" smtClean="0"/>
              <a:t>签名启动</a:t>
            </a:r>
            <a:r>
              <a:rPr lang="zh-CN" altLang="en-US" dirty="0" smtClean="0"/>
              <a:t>：面临除名的员工，只要收集到 </a:t>
            </a:r>
            <a:r>
              <a:rPr lang="en-US" altLang="zh-CN" dirty="0" smtClean="0"/>
              <a:t>10% </a:t>
            </a:r>
            <a:r>
              <a:rPr lang="zh-CN" altLang="en-US" dirty="0" smtClean="0"/>
              <a:t>成员的联署签名，就能强制召开全体工人大会。</a:t>
            </a:r>
            <a:endParaRPr lang="en-US" altLang="zh-CN" dirty="0" smtClean="0"/>
          </a:p>
          <a:p>
            <a:pPr lvl="1"/>
            <a:r>
              <a:rPr lang="zh-CN" altLang="en-US" b="1" dirty="0" smtClean="0"/>
              <a:t>最高裁决权</a:t>
            </a:r>
            <a:r>
              <a:rPr lang="zh-CN" altLang="en-US" dirty="0" smtClean="0"/>
              <a:t>：可以通过工人大会一人一票推翻管理委员会的决定。</a:t>
            </a:r>
            <a:endParaRPr lang="en-US" altLang="zh-CN" dirty="0" smtClean="0"/>
          </a:p>
          <a:p>
            <a:pPr lvl="1"/>
            <a:r>
              <a:rPr lang="zh-CN" altLang="en-US" b="1" dirty="0" smtClean="0"/>
              <a:t>经典案例 </a:t>
            </a:r>
            <a:r>
              <a:rPr lang="en-US" altLang="zh-CN" b="1" dirty="0" smtClean="0"/>
              <a:t>(</a:t>
            </a:r>
            <a:r>
              <a:rPr lang="zh-CN" altLang="en-US" b="1" dirty="0" smtClean="0"/>
              <a:t>何塞事件</a:t>
            </a:r>
            <a:r>
              <a:rPr lang="en-US" altLang="zh-CN" b="1" dirty="0" smtClean="0"/>
              <a:t>)</a:t>
            </a:r>
          </a:p>
          <a:p>
            <a:pPr lvl="1"/>
            <a:r>
              <a:rPr lang="zh-CN" altLang="en-US" dirty="0" smtClean="0"/>
              <a:t>在“维护企业效率</a:t>
            </a:r>
            <a:r>
              <a:rPr lang="en-US" altLang="zh-CN" dirty="0" smtClean="0"/>
              <a:t>/</a:t>
            </a:r>
            <a:r>
              <a:rPr lang="zh-CN" altLang="en-US" dirty="0" smtClean="0"/>
              <a:t>规则”与“保护工友生存权”之间，大家最终往往会选择同情</a:t>
            </a:r>
            <a:endParaRPr lang="en-US" altLang="zh-CN" dirty="0" smtClean="0"/>
          </a:p>
          <a:p>
            <a:pPr lvl="1"/>
            <a:r>
              <a:rPr lang="zh-CN" altLang="en-US" b="1" dirty="0" smtClean="0"/>
              <a:t>质疑：是否包庇了拖后腿的人？能在残酷的市场中存活吗？人际冲突的影响？（卡琳娜）</a:t>
            </a:r>
            <a:endParaRPr lang="en-US" altLang="zh-CN" b="1" dirty="0" smtClean="0"/>
          </a:p>
        </p:txBody>
      </p:sp>
    </p:spTree>
    <p:extLst>
      <p:ext uri="{BB962C8B-B14F-4D97-AF65-F5344CB8AC3E}">
        <p14:creationId xmlns:p14="http://schemas.microsoft.com/office/powerpoint/2010/main" val="3941173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合作中如何运营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4609420"/>
          </a:xfrm>
        </p:spPr>
        <p:txBody>
          <a:bodyPr/>
          <a:lstStyle/>
          <a:p>
            <a:r>
              <a:rPr lang="zh-CN" altLang="en-US" b="1" dirty="0" smtClean="0"/>
              <a:t>民主的（再）教育</a:t>
            </a:r>
            <a:endParaRPr lang="en-US" altLang="zh-CN" b="1" dirty="0" smtClean="0"/>
          </a:p>
          <a:p>
            <a:pPr lvl="1"/>
            <a:r>
              <a:rPr lang="zh-CN" altLang="en-US" dirty="0" smtClean="0"/>
              <a:t>平等不仅仅是平分利润，更是一场深刻的</a:t>
            </a:r>
            <a:r>
              <a:rPr lang="zh-CN" altLang="en-US" b="1" dirty="0" smtClean="0"/>
              <a:t>身份重塑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必须彻底改变劳动者对“为什么工作”和“为谁工作”的底层理解。</a:t>
            </a:r>
            <a:endParaRPr lang="en-US" altLang="zh-CN" dirty="0" smtClean="0"/>
          </a:p>
          <a:p>
            <a:pPr lvl="1"/>
            <a:r>
              <a:rPr lang="en-US" altLang="zh-CN" b="1" dirty="0" err="1" smtClean="0"/>
              <a:t>Compañero</a:t>
            </a:r>
            <a:r>
              <a:rPr lang="zh-CN" altLang="en-US" dirty="0" smtClean="0"/>
              <a:t>：在合作社里，大家互称 </a:t>
            </a:r>
            <a:r>
              <a:rPr lang="en-US" altLang="zh-CN" dirty="0" err="1" smtClean="0"/>
              <a:t>Compañero</a:t>
            </a:r>
            <a:r>
              <a:rPr lang="zh-CN" altLang="en-US" dirty="0" smtClean="0"/>
              <a:t>（字面意思是“分享面包的人”），标志着一种完全平等的横向关系，而非上下级的依附关系。</a:t>
            </a:r>
            <a:endParaRPr lang="en-US" altLang="zh-CN" b="1" dirty="0" smtClean="0"/>
          </a:p>
          <a:p>
            <a:r>
              <a:rPr lang="zh-CN" altLang="en-US" i="1" dirty="0" smtClean="0"/>
              <a:t>新共识：“穿上制服是为了保护我们自己的饭碗（字面意义上）。我们服务好客人，不是为了老板的利润，而是为了让所有‘分享面包的人’活下去。”</a:t>
            </a:r>
            <a:endParaRPr lang="en-US" altLang="zh-CN" i="1" dirty="0" smtClean="0"/>
          </a:p>
          <a:p>
            <a:r>
              <a:rPr lang="zh-CN" altLang="en-US" b="1" dirty="0" smtClean="0"/>
              <a:t>在此之下，我们如何走出合作与运营之道？</a:t>
            </a:r>
            <a:endParaRPr lang="en-US" altLang="zh-CN" b="1" dirty="0" smtClean="0"/>
          </a:p>
          <a:p>
            <a:pPr marL="0" indent="0">
              <a:buNone/>
            </a:pP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78186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47410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服务业与自我管理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72973"/>
            <a:ext cx="10515600" cy="5032375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服务业意味着什么？</a:t>
            </a:r>
            <a:endParaRPr lang="en-US" altLang="zh-CN" dirty="0" smtClean="0"/>
          </a:p>
          <a:p>
            <a:pPr lvl="1"/>
            <a:r>
              <a:rPr lang="zh-CN" altLang="en-US" dirty="0"/>
              <a:t>情感</a:t>
            </a:r>
            <a:r>
              <a:rPr lang="zh-CN" altLang="en-US" dirty="0" smtClean="0"/>
              <a:t>劳动，传统情况下对工人情感的压制。</a:t>
            </a:r>
            <a:endParaRPr lang="en-US" altLang="zh-CN" dirty="0" smtClean="0"/>
          </a:p>
          <a:p>
            <a:pPr lvl="1"/>
            <a:r>
              <a:rPr lang="zh-CN" altLang="en-US" dirty="0"/>
              <a:t>自我管理</a:t>
            </a:r>
            <a:r>
              <a:rPr lang="zh-CN" altLang="en-US" dirty="0" smtClean="0"/>
              <a:t>的工人：个人主义的道路，亦或是个人在集体中的实践？</a:t>
            </a:r>
            <a:endParaRPr lang="en-US" altLang="zh-CN" dirty="0" smtClean="0"/>
          </a:p>
          <a:p>
            <a:pPr lvl="1"/>
            <a:r>
              <a:rPr lang="zh-CN" altLang="en-US" dirty="0"/>
              <a:t>理想</a:t>
            </a:r>
            <a:r>
              <a:rPr lang="zh-CN" altLang="en-US" dirty="0" smtClean="0"/>
              <a:t>工人：服务于一种为了集体生存、拒绝外部官僚干预的</a:t>
            </a:r>
            <a:r>
              <a:rPr lang="zh-CN" altLang="en-US" b="1" dirty="0" smtClean="0"/>
              <a:t>集体生产方式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成为 </a:t>
            </a:r>
            <a:r>
              <a:rPr lang="en-US" altLang="zh-CN" dirty="0" err="1" smtClean="0"/>
              <a:t>compañero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接受参与式民主的教育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横向管理：</a:t>
            </a:r>
            <a:r>
              <a:rPr lang="zh-CN" altLang="en-US" dirty="0" smtClean="0"/>
              <a:t>平级同事间的相互监督与培训取代自上而下的监督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令人沮丧的可能：糟糕的表现让同事失望，监视技术的重新使用</a:t>
            </a:r>
            <a:endParaRPr lang="en-US" altLang="zh-CN" dirty="0"/>
          </a:p>
          <a:p>
            <a:pPr lvl="1"/>
            <a:r>
              <a:rPr lang="zh-CN" altLang="en-US" b="1" dirty="0" smtClean="0"/>
              <a:t>讨论：摄像头和同辈的凝视，哪一种让你感到压力更大？技术的重新引入是否意味令人不安的“背叛”？</a:t>
            </a:r>
            <a:endParaRPr lang="en-US" altLang="zh-CN" b="1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7472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90954"/>
            <a:ext cx="10515600" cy="781504"/>
          </a:xfrm>
        </p:spPr>
        <p:txBody>
          <a:bodyPr/>
          <a:lstStyle/>
          <a:p>
            <a:r>
              <a:rPr lang="zh-CN" altLang="en-US" dirty="0" smtClean="0"/>
              <a:t>理想工人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945"/>
            <a:ext cx="11121571" cy="5885542"/>
          </a:xfrm>
        </p:spPr>
        <p:txBody>
          <a:bodyPr>
            <a:normAutofit/>
          </a:bodyPr>
          <a:lstStyle/>
          <a:p>
            <a:r>
              <a:rPr lang="zh-CN" altLang="en-US" b="1" dirty="0" smtClean="0"/>
              <a:t>解构传统的“理想工人”</a:t>
            </a:r>
            <a:endParaRPr lang="en-US" altLang="zh-CN" b="1" dirty="0" smtClean="0"/>
          </a:p>
          <a:p>
            <a:pPr lvl="1"/>
            <a:r>
              <a:rPr lang="zh-CN" altLang="en-US" dirty="0" smtClean="0"/>
              <a:t>在合作社里，大家互称 </a:t>
            </a:r>
            <a:r>
              <a:rPr lang="en-US" altLang="zh-CN" dirty="0" err="1" smtClean="0"/>
              <a:t>Compañero</a:t>
            </a:r>
            <a:r>
              <a:rPr lang="zh-CN" altLang="en-US" dirty="0" smtClean="0"/>
              <a:t>，字面意思是“分享面包的人”，它标志着一种平等的地位关系。理想的 </a:t>
            </a:r>
            <a:r>
              <a:rPr lang="en-US" altLang="zh-CN" dirty="0" err="1" smtClean="0"/>
              <a:t>compañero</a:t>
            </a:r>
            <a:r>
              <a:rPr lang="en-US" altLang="zh-CN" dirty="0" smtClean="0"/>
              <a:t> </a:t>
            </a:r>
            <a:r>
              <a:rPr lang="zh-CN" altLang="en-US" dirty="0" smtClean="0"/>
              <a:t>需要具备自我驱动、集体承诺和政治意识这三个核心特征。</a:t>
            </a:r>
            <a:endParaRPr lang="en-US" altLang="zh-CN" dirty="0" smtClean="0"/>
          </a:p>
          <a:p>
            <a:r>
              <a:rPr lang="zh-CN" altLang="en-US" b="1" dirty="0"/>
              <a:t>自我</a:t>
            </a:r>
            <a:r>
              <a:rPr lang="zh-CN" altLang="en-US" b="1" dirty="0" smtClean="0"/>
              <a:t>激励：</a:t>
            </a:r>
            <a:endParaRPr lang="en-US" altLang="zh-CN" b="1" dirty="0" smtClean="0"/>
          </a:p>
          <a:p>
            <a:pPr lvl="1"/>
            <a:r>
              <a:rPr lang="zh-CN" altLang="en-US" dirty="0" smtClean="0"/>
              <a:t>理想的工人业主会在工作日内主动寻找任务，通过服务和培训同事来建设合作社。例如员工何塞</a:t>
            </a:r>
            <a:r>
              <a:rPr lang="en-US" altLang="zh-CN" dirty="0" smtClean="0"/>
              <a:t>·</a:t>
            </a:r>
            <a:r>
              <a:rPr lang="zh-CN" altLang="en-US" dirty="0" smtClean="0"/>
              <a:t>路易斯会主动每天把地板打蜡擦亮，而与之相反的“懒惰”则被认为是对集体利益的直接损害。</a:t>
            </a:r>
            <a:endParaRPr lang="en-US" altLang="zh-CN" dirty="0" smtClean="0"/>
          </a:p>
          <a:p>
            <a:r>
              <a:rPr lang="zh-CN" altLang="en-US" b="1" dirty="0" smtClean="0"/>
              <a:t>集体承诺：</a:t>
            </a:r>
            <a:endParaRPr lang="en-US" altLang="zh-CN" b="1" dirty="0" smtClean="0"/>
          </a:p>
          <a:p>
            <a:pPr lvl="1"/>
            <a:r>
              <a:rPr lang="zh-CN" altLang="en-US" dirty="0" smtClean="0"/>
              <a:t>不仅是履行一份工作，更是因为认同酒店是“我们所有人的”集体财产，这种深刻的忠诚源于成员对组织的真正所有权。</a:t>
            </a:r>
            <a:endParaRPr lang="en-US" altLang="zh-CN" dirty="0" smtClean="0"/>
          </a:p>
          <a:p>
            <a:r>
              <a:rPr lang="zh-CN" altLang="en-US" b="1" dirty="0" smtClean="0"/>
              <a:t>政治意识：</a:t>
            </a:r>
            <a:endParaRPr lang="en-US" altLang="zh-CN" b="1" dirty="0" smtClean="0"/>
          </a:p>
          <a:p>
            <a:pPr lvl="1"/>
            <a:r>
              <a:rPr lang="zh-CN" altLang="en-US" dirty="0" smtClean="0"/>
              <a:t>将日常工作本身视为一种推动社会正义、反抗资本剥削的政治行为。</a:t>
            </a:r>
            <a:endParaRPr lang="en-US" altLang="zh-CN" dirty="0" smtClean="0"/>
          </a:p>
          <a:p>
            <a:r>
              <a:rPr lang="zh-CN" altLang="en-US" b="1" dirty="0" smtClean="0"/>
              <a:t>与传统公司中“主人翁意识”的区别？</a:t>
            </a:r>
            <a:endParaRPr lang="en-US" altLang="zh-CN" b="1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8681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854</Words>
  <Application>Microsoft Office PowerPoint</Application>
  <PresentationFormat>宽屏</PresentationFormat>
  <Paragraphs>78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宋体</vt:lpstr>
      <vt:lpstr>Arial</vt:lpstr>
      <vt:lpstr>Calibri</vt:lpstr>
      <vt:lpstr>Calibri Light</vt:lpstr>
      <vt:lpstr>Office 主题</vt:lpstr>
      <vt:lpstr>《人民的酒店》</vt:lpstr>
      <vt:lpstr>场景假设：“想象你的公司明天突然宣布实行全面自治，所有领导都被开除，大家平分利润。你觉得第一个月里，你们部门最先崩溃的环节会是什么？开会、干活还是分钱？” </vt:lpstr>
      <vt:lpstr>理论中的合作社</vt:lpstr>
      <vt:lpstr>权力的分配与民主的暗流</vt:lpstr>
      <vt:lpstr>决策和参与</vt:lpstr>
      <vt:lpstr>协商和申诉</vt:lpstr>
      <vt:lpstr>合作中如何运营</vt:lpstr>
      <vt:lpstr>服务业与自我管理</vt:lpstr>
      <vt:lpstr>理想工人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《人民的酒店》</dc:title>
  <dc:creator>msn</dc:creator>
  <cp:lastModifiedBy>msn</cp:lastModifiedBy>
  <cp:revision>13</cp:revision>
  <dcterms:created xsi:type="dcterms:W3CDTF">2026-02-20T16:56:29Z</dcterms:created>
  <dcterms:modified xsi:type="dcterms:W3CDTF">2026-02-20T18:41:34Z</dcterms:modified>
</cp:coreProperties>
</file>
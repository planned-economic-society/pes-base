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95E14-869F-4752-854C-DC944EC8E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EA7176-879B-4923-9204-73ED1EC85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092834-95E4-46CB-A35B-42FC4288C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516DD5-60FC-4F1E-A0EC-810199CF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AA9A2-1E98-46B4-9223-93F060F1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58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DA2D1-5468-43D4-8AF8-A00DDAC9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973B59-50E4-4A76-A8A9-001FE70A1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AE72D-A437-4A49-B637-119FEFA6E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C2EA4-139B-4BBD-9306-E1404104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AD7F-59DB-4B2F-8C45-1ACE6331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0AE3C-FB46-4202-8759-66123563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EFA9F5-021A-4E54-9C77-9C7325B1D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6163B-98D1-4BFA-ACAC-C5B3A89F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7A79C5-8215-4923-B741-E64D5AE4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93EF4-D19C-4837-A02A-764E5616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8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AD304-1484-4959-AE71-03F9E9A0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2562-F0BC-42D9-B1CC-1EFC8328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87BBC9-8543-4278-AE9F-49A88ACF4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E70F0-6539-48BE-A086-B72C3BD23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2EE923-CD71-4643-BAEA-64B85642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337663-81D1-4916-9CD5-E2B8EBFC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37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802DF-2BE8-4FAA-873A-E2B3A9414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D3A98-EFA0-4B83-BC77-29E4A712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6E701C-0711-46C3-85C1-E3125BD45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9A183D-2590-41CD-B7AF-335BB48A0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EA0219-DE1C-4874-8D5A-0377C5381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BABFFD-E48D-4CF9-A27B-8B55AC71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CCE1C9-482E-4D82-B98D-92B5FDFD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55E8E3-BE2E-4665-BD53-43251EE6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19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B095B-3237-460C-B516-99F60D4D8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D75351-2A94-4A6C-8D13-12323D4B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BE3DD2-1519-45DE-8EC9-1F399F9E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3728E-33CC-4FAF-9CB9-7DBE2C13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22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A44426-2B3D-460A-B93A-AB5131EC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8C7E1C-C9A2-433F-818B-DC787FD7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F3FD0-7C57-4A39-A820-31F99B9E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8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99A53-90B8-492D-B812-8A88CB24F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E8CD0-EAFE-4533-AA05-C0EE25E27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2D431F-BD3A-4D1F-A721-6925CA724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B91278-B81D-4DCC-A702-547DE55B3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3D2FAB-FE0C-466A-B3AB-37312375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03F506-149D-4A92-B240-B5377971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6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BD7C5-983D-4986-A779-0D9A4513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8DD2DA-EE87-4345-9189-95FA4825B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BDBBF-E222-475A-9C26-DDCCA56D7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3FA3C1-76CD-465A-98C8-EC7F9B60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AAC1C5-EB95-45C8-AD0F-23A16EC1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08F5A3-6B34-42E1-B160-FE800710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5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45E8A-7D5D-4D4B-8048-95F61E4B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BD0187-E847-4B02-ACCB-7D5174AA5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37BE31-11AC-4C6F-9370-A803FF0D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F38CB-3D13-4F02-BCDD-D22250D2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B92786-988E-40F4-B547-8D019DF4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39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7D13C4-AAF5-43C1-85EF-63F324D8F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66B41E-B27D-453F-8E34-381A56B53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C21B32-E237-475F-A37C-12A64A76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F8C913-0B49-4643-92FD-19381EB1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F6FE26-768D-4043-9786-3A75621E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55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99D726-49FB-4894-A539-F6206F6C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ABA04B-85AE-4AA3-836D-D3C76DB7A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D4DAFF-6E8A-4FAE-B334-ED6F0EF34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C436E-C8A1-4314-A7C8-7E5356B03471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CB0B0-5219-40C6-B37A-1502DF42A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DB3BF1-610F-401A-B015-C1A820B0D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82AFA-828F-4448-9F90-AFD077FB1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41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8B959-7061-44F0-9905-CD9D6E00B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人民的酒店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384E0C-AEC0-4F06-BCC7-9CC6D789C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zh-CN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lang="zh-CN" altLang="en-US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三</a:t>
            </a:r>
            <a:r>
              <a:rPr lang="zh-CN" altLang="zh-CN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期读书会</a:t>
            </a:r>
            <a:endParaRPr lang="zh-CN" altLang="zh-CN" dirty="0">
              <a:effectLst/>
            </a:endParaRPr>
          </a:p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2026.3.8</a:t>
            </a:r>
            <a:endParaRPr lang="zh-CN" altLang="zh-CN" dirty="0">
              <a:effectLst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884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1998C-C554-422C-BBF0-92D8CD09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>
            <a:normAutofit/>
          </a:bodyPr>
          <a:lstStyle/>
          <a:p>
            <a:r>
              <a:rPr lang="zh-CN" altLang="en-US" sz="2000" i="1" dirty="0"/>
              <a:t>在乌托邦里，谁去扔垃圾？</a:t>
            </a:r>
            <a:br>
              <a:rPr lang="en-US" altLang="zh-CN" sz="2000" i="1" dirty="0"/>
            </a:br>
            <a:r>
              <a:rPr lang="zh-CN" altLang="en-US" sz="2000" i="1" dirty="0"/>
              <a:t> </a:t>
            </a:r>
            <a:r>
              <a:rPr lang="en-US" altLang="zh-CN" sz="2000" i="1" dirty="0"/>
              <a:t>——</a:t>
            </a:r>
            <a:r>
              <a:rPr lang="zh-CN" altLang="en-US" sz="2000" i="1" dirty="0"/>
              <a:t>罗莎贝斯</a:t>
            </a:r>
            <a:r>
              <a:rPr lang="en-US" altLang="zh-CN" sz="2000" i="1" dirty="0"/>
              <a:t>·</a:t>
            </a:r>
            <a:r>
              <a:rPr lang="zh-CN" altLang="en-US" sz="2000" i="1" dirty="0"/>
              <a:t>莫斯</a:t>
            </a:r>
            <a:r>
              <a:rPr lang="en-US" altLang="zh-CN" sz="2000" i="1" dirty="0"/>
              <a:t>·</a:t>
            </a:r>
            <a:r>
              <a:rPr lang="zh-CN" altLang="en-US" sz="2000" i="1" dirty="0"/>
              <a:t>坎特</a:t>
            </a:r>
            <a:r>
              <a:rPr lang="en-US" altLang="zh-CN" sz="2000" i="1" dirty="0"/>
              <a:t>(</a:t>
            </a:r>
            <a:r>
              <a:rPr lang="en-US" altLang="zh-CN" sz="2000" i="1" dirty="0" err="1"/>
              <a:t>Rosabeth</a:t>
            </a:r>
            <a:r>
              <a:rPr lang="en-US" altLang="zh-CN" sz="2000" i="1" dirty="0"/>
              <a:t> Moss Kanter), 《</a:t>
            </a:r>
            <a:r>
              <a:rPr lang="zh-CN" altLang="en-US" sz="2000" i="1" dirty="0"/>
              <a:t>承诺与社区</a:t>
            </a:r>
            <a:r>
              <a:rPr lang="en-US" altLang="zh-CN" sz="2000" i="1" dirty="0"/>
              <a:t>》</a:t>
            </a:r>
            <a:endParaRPr lang="zh-CN" altLang="en-US" sz="2000" i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A63B2F5-8CF8-45FA-8E69-307805057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686748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78F4B1C-6E7E-4C00-9AF0-9168214EE3F4}"/>
              </a:ext>
            </a:extLst>
          </p:cNvPr>
          <p:cNvSpPr txBox="1"/>
          <p:nvPr/>
        </p:nvSpPr>
        <p:spPr>
          <a:xfrm>
            <a:off x="7233313" y="1690688"/>
            <a:ext cx="44218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如果我们公司明天宣布打破一切部门壁垒（大家可以自由轮岗），并且打破一切薪资阶级（全员平薪）。你觉得，阻碍我们实现‘上午打猎、下午捕鱼’般自由的，到底是什么呢？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能力的不足？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效率的低下？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人与人之间的摩擦？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747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9EE44-0E7C-43DB-8AE1-AE9BE41B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现实版的“消灭分工”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2A96E-EC19-4F77-87E9-137C2BEA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193"/>
            <a:ext cx="11035352" cy="5284858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核心概念：对抗“职业隔离”</a:t>
            </a:r>
            <a:endParaRPr lang="en-US" altLang="zh-CN" sz="1800" dirty="0"/>
          </a:p>
          <a:p>
            <a:pPr lvl="1"/>
            <a:r>
              <a:rPr lang="zh-CN" altLang="en-US" sz="1800" dirty="0"/>
              <a:t>资本主义中，工作使社会不平等永久化 的主要方式之一，是将人们分到不同的岗位上。这成为了对人们全面、自由发展的限制</a:t>
            </a:r>
            <a:r>
              <a:rPr lang="en-US" altLang="zh-CN" sz="1800" dirty="0"/>
              <a:t>【</a:t>
            </a:r>
            <a:r>
              <a:rPr lang="zh-CN" altLang="en-US" sz="1800" dirty="0"/>
              <a:t>种族，性别，职业</a:t>
            </a:r>
            <a:r>
              <a:rPr lang="en-US" altLang="zh-CN" sz="1800" dirty="0"/>
              <a:t>】</a:t>
            </a:r>
          </a:p>
          <a:p>
            <a:pPr lvl="1"/>
            <a:r>
              <a:rPr lang="zh-CN" altLang="en-US" sz="1800" dirty="0"/>
              <a:t>作为平等项目的一部分，是工人获得更多机会、对抗职场中根深蒂固的不平等的一种方式。参与机会分配，和社交圈外的人们分享资源</a:t>
            </a:r>
            <a:endParaRPr lang="en-US" altLang="zh-CN" sz="1800" dirty="0"/>
          </a:p>
          <a:p>
            <a:pPr lvl="1"/>
            <a:r>
              <a:rPr lang="zh-CN" altLang="en-US" sz="1800" dirty="0"/>
              <a:t>合作社的轮岗促使工人们质疑“技术性”和“非技术性”工作的区别。作者引用保罗</a:t>
            </a:r>
            <a:r>
              <a:rPr lang="en-US" altLang="zh-CN" sz="1800" dirty="0"/>
              <a:t>·</a:t>
            </a:r>
            <a:r>
              <a:rPr lang="zh-CN" altLang="en-US" sz="1800" dirty="0"/>
              <a:t>阿特维尔（</a:t>
            </a:r>
            <a:r>
              <a:rPr lang="en-US" altLang="zh-CN" sz="1800" dirty="0"/>
              <a:t>Paul </a:t>
            </a:r>
            <a:r>
              <a:rPr lang="en-US" altLang="zh-CN" sz="1800" dirty="0" err="1"/>
              <a:t>Attewell</a:t>
            </a:r>
            <a:r>
              <a:rPr lang="zh-CN" altLang="en-US" sz="1800" dirty="0"/>
              <a:t>）的理论指出，很多被认为高高在上的“技能”，往往是基于资历和声望的“先赋”，而非普通人学不会的鸿沟。</a:t>
            </a:r>
            <a:endParaRPr lang="en-US" altLang="zh-CN" sz="1800" dirty="0"/>
          </a:p>
          <a:p>
            <a:r>
              <a:rPr lang="zh-CN" altLang="en-US" sz="1800" dirty="0"/>
              <a:t>鲍恩情境</a:t>
            </a:r>
            <a:endParaRPr lang="en-US" altLang="zh-CN" sz="1800" dirty="0"/>
          </a:p>
          <a:p>
            <a:pPr lvl="1"/>
            <a:r>
              <a:rPr lang="zh-CN" altLang="en-US" sz="1800" dirty="0"/>
              <a:t>工作洗牌</a:t>
            </a:r>
            <a:endParaRPr lang="en-US" altLang="zh-CN" sz="1800" dirty="0"/>
          </a:p>
          <a:p>
            <a:pPr lvl="2"/>
            <a:r>
              <a:rPr lang="zh-CN" altLang="en-US" sz="1800" b="1" dirty="0"/>
              <a:t>前提</a:t>
            </a:r>
            <a:r>
              <a:rPr lang="zh-CN" altLang="en-US" sz="1800" dirty="0"/>
              <a:t>是工人不能被无故解雇，因此常常可以因为工作和人际需求转移到不同的部门</a:t>
            </a:r>
            <a:endParaRPr lang="en-US" altLang="zh-CN" sz="1800" dirty="0"/>
          </a:p>
          <a:p>
            <a:pPr lvl="2"/>
            <a:r>
              <a:rPr lang="zh-CN" altLang="en-US" sz="1800" b="1" dirty="0"/>
              <a:t>人道主义关怀</a:t>
            </a:r>
            <a:r>
              <a:rPr lang="zh-CN" altLang="en-US" sz="1800" dirty="0"/>
              <a:t>，有意让从事重体力劳动的工人轮换到轻松的部门以避免永久性损伤</a:t>
            </a:r>
            <a:endParaRPr lang="en-US" altLang="zh-CN" sz="1800" dirty="0"/>
          </a:p>
          <a:p>
            <a:pPr lvl="2"/>
            <a:r>
              <a:rPr lang="zh-CN" altLang="en-US" sz="1800" b="1" dirty="0"/>
              <a:t>自我发掘</a:t>
            </a:r>
            <a:r>
              <a:rPr lang="zh-CN" altLang="en-US" sz="1800" dirty="0"/>
              <a:t>，使得工人们学到更多知识，通过实践获得了更多技能</a:t>
            </a:r>
            <a:endParaRPr lang="en-US" altLang="zh-CN" sz="1800" dirty="0"/>
          </a:p>
          <a:p>
            <a:pPr lvl="2"/>
            <a:r>
              <a:rPr lang="zh-CN" altLang="en-US" sz="1800" b="1" dirty="0"/>
              <a:t>两大方案</a:t>
            </a:r>
            <a:r>
              <a:rPr lang="zh-CN" altLang="en-US" sz="1800" dirty="0"/>
              <a:t>：在话语上拉平个人能力，拒绝阻碍职业流动的传统理由</a:t>
            </a:r>
            <a:endParaRPr lang="en-US" altLang="zh-CN" sz="1800" dirty="0"/>
          </a:p>
          <a:p>
            <a:pPr lvl="2"/>
            <a:r>
              <a:rPr lang="zh-CN" altLang="en-US" sz="1800" dirty="0"/>
              <a:t>聘用外部专业人员承担任务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34342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CC998-3F06-4BD7-A2A9-AED696704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847" y="204715"/>
            <a:ext cx="4902318" cy="637350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轮换的制度</a:t>
            </a:r>
            <a:endParaRPr lang="en-US" altLang="zh-CN" sz="2000" dirty="0"/>
          </a:p>
          <a:p>
            <a:pPr lvl="1"/>
            <a:r>
              <a:rPr lang="zh-CN" altLang="en-US" sz="2000" dirty="0"/>
              <a:t>行政委员会协调</a:t>
            </a:r>
            <a:endParaRPr lang="en-US" altLang="zh-CN" sz="2000" dirty="0"/>
          </a:p>
          <a:p>
            <a:pPr lvl="1"/>
            <a:r>
              <a:rPr lang="zh-CN" altLang="en-US" sz="2000" dirty="0"/>
              <a:t>理事会与部门管理人员合作</a:t>
            </a:r>
            <a:endParaRPr lang="en-US" altLang="zh-CN" sz="2000" dirty="0"/>
          </a:p>
          <a:p>
            <a:pPr lvl="1"/>
            <a:r>
              <a:rPr lang="zh-CN" altLang="en-US" sz="2000" dirty="0"/>
              <a:t>工人大会干预（很少发生）</a:t>
            </a:r>
            <a:endParaRPr lang="en-US" altLang="zh-CN" sz="2000" dirty="0"/>
          </a:p>
          <a:p>
            <a:r>
              <a:rPr lang="zh-CN" altLang="en-US" sz="2400" dirty="0"/>
              <a:t>现实的挑战</a:t>
            </a:r>
            <a:endParaRPr lang="en-US" altLang="zh-CN" sz="2400" dirty="0"/>
          </a:p>
          <a:p>
            <a:pPr lvl="1"/>
            <a:r>
              <a:rPr lang="zh-CN" altLang="en-US" sz="2000" dirty="0"/>
              <a:t>缺乏必备技能的人需要更多时间</a:t>
            </a:r>
            <a:endParaRPr lang="en-US" altLang="zh-CN" sz="2000" dirty="0"/>
          </a:p>
          <a:p>
            <a:pPr lvl="1"/>
            <a:r>
              <a:rPr lang="zh-CN" altLang="en-US" sz="2000" dirty="0"/>
              <a:t>组织需求和个人意愿的衡量</a:t>
            </a:r>
            <a:endParaRPr lang="en-US" altLang="zh-CN" sz="2000" dirty="0"/>
          </a:p>
          <a:p>
            <a:pPr lvl="1"/>
            <a:r>
              <a:rPr lang="zh-CN" altLang="en-US" sz="2000" dirty="0"/>
              <a:t>理事会中的信任问题</a:t>
            </a:r>
            <a:endParaRPr lang="en-US" altLang="zh-CN" sz="2000" dirty="0"/>
          </a:p>
          <a:p>
            <a:pPr lvl="1"/>
            <a:r>
              <a:rPr lang="zh-CN" altLang="en-US" sz="2000" dirty="0"/>
              <a:t>作为惩罚的使用（可能）</a:t>
            </a:r>
            <a:endParaRPr lang="en-US" altLang="zh-CN" sz="2000" dirty="0"/>
          </a:p>
          <a:p>
            <a:r>
              <a:rPr lang="zh-CN" altLang="en-US" sz="2400" dirty="0"/>
              <a:t>正规化？</a:t>
            </a:r>
            <a:endParaRPr lang="en-US" altLang="zh-CN" sz="2400" dirty="0"/>
          </a:p>
          <a:p>
            <a:pPr lvl="1"/>
            <a:r>
              <a:rPr lang="zh-CN" altLang="en-US" sz="1800" dirty="0"/>
              <a:t>巴乌恩合作社的成员有机会轮换工作，以满足个人和组织的需求。但由于这种做法是</a:t>
            </a:r>
            <a:r>
              <a:rPr lang="zh-CN" altLang="en-US" sz="1800" b="1" dirty="0"/>
              <a:t>非正式</a:t>
            </a:r>
            <a:r>
              <a:rPr lang="zh-CN" altLang="en-US" sz="1800" dirty="0"/>
              <a:t>的，有时不清楚成员是否以及如何获得轮岗的机 会，也不清楚决策者可以用什么理由来证明轮换的正当性或拒绝轮换。</a:t>
            </a:r>
            <a:endParaRPr lang="en-US" altLang="zh-CN" sz="1800" dirty="0"/>
          </a:p>
          <a:p>
            <a:pPr lvl="1"/>
            <a:r>
              <a:rPr lang="zh-CN" altLang="en-US" sz="1800" dirty="0"/>
              <a:t>正规化的制度有利于减少工人们感到自己遭受不公待遇的情况</a:t>
            </a:r>
            <a:endParaRPr lang="en-US" altLang="zh-CN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BEA0C1-03F9-40D0-AF06-F4F562A8D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96" y="365125"/>
            <a:ext cx="6056609" cy="31186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7F7332-BC4F-47BD-B6BD-0E6C2A200CFA}"/>
              </a:ext>
            </a:extLst>
          </p:cNvPr>
          <p:cNvSpPr txBox="1"/>
          <p:nvPr/>
        </p:nvSpPr>
        <p:spPr>
          <a:xfrm>
            <a:off x="6096000" y="3712191"/>
            <a:ext cx="57229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既然这种非正式性的做法引发了信任危机，为什么没有确立一套透明、正规的轮岗制度呢？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对科层制的抵触？（第一章的“重写规则”）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灵活性的刚需：走流程很慢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人道主义关怀的缓冲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更紧迫的生存问题</a:t>
            </a:r>
            <a:r>
              <a:rPr lang="en-US" altLang="zh-CN" dirty="0"/>
              <a:t>(p68)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046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191EE-AD0C-4FCA-96A9-B4E54A81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平等薪酬的政治</a:t>
            </a:r>
            <a:br>
              <a:rPr lang="en-US" altLang="zh-CN" dirty="0"/>
            </a:br>
            <a:r>
              <a:rPr lang="zh-CN" altLang="en-US" sz="1800" i="1" dirty="0"/>
              <a:t>事实上，资本主义是建立在这样一种观念之上的</a:t>
            </a:r>
            <a:r>
              <a:rPr lang="en-US" altLang="zh-CN" sz="1800" i="1" dirty="0"/>
              <a:t>:</a:t>
            </a:r>
            <a:r>
              <a:rPr lang="zh-CN" altLang="en-US" sz="1800" i="1" dirty="0"/>
              <a:t>在平等和不稳定中，人们会受到激励，努力并坚持工作。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DF7136-354E-4876-A7AE-244D008B0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855" y="1569492"/>
            <a:ext cx="10515600" cy="528850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1600" dirty="0"/>
              <a:t>仅仅是创造关系的平等还远远不够，必须处理工作场所的物质条件</a:t>
            </a:r>
            <a:endParaRPr lang="en-US" altLang="zh-CN" sz="1600" dirty="0"/>
          </a:p>
          <a:p>
            <a:r>
              <a:rPr lang="zh-CN" altLang="en-US" sz="1600" dirty="0"/>
              <a:t>核心理念：绝对的</a:t>
            </a:r>
            <a:r>
              <a:rPr lang="zh-CN" altLang="en-US" sz="1600" b="1" dirty="0"/>
              <a:t>同工同酬</a:t>
            </a:r>
            <a:endParaRPr lang="en-US" altLang="zh-CN" sz="1600" b="1" dirty="0"/>
          </a:p>
          <a:p>
            <a:pPr lvl="1"/>
            <a:r>
              <a:rPr lang="zh-CN" altLang="en-US" sz="1600" dirty="0"/>
              <a:t>无论是统筹全局的委员会主席、持证电工，还是客房清洁工，所有人的基础收入（提取的利润）在账面上</a:t>
            </a:r>
            <a:r>
              <a:rPr lang="zh-CN" altLang="en-US" sz="1600" b="1" dirty="0"/>
              <a:t>一分不差</a:t>
            </a:r>
            <a:endParaRPr lang="en-US" altLang="zh-CN" sz="1600" b="1" dirty="0"/>
          </a:p>
          <a:p>
            <a:pPr lvl="1"/>
            <a:r>
              <a:rPr lang="zh-CN" altLang="en-US" sz="1600" dirty="0"/>
              <a:t>机制：生存性融资：作为独立的补偿制度区别于一般公司的可撤销津贴</a:t>
            </a:r>
            <a:endParaRPr lang="en-US" altLang="zh-CN" sz="1600" dirty="0"/>
          </a:p>
          <a:p>
            <a:pPr lvl="2"/>
            <a:r>
              <a:rPr lang="zh-CN" altLang="en-US" sz="1600" dirty="0"/>
              <a:t>工资：所有合作社成员领取相同的基本工资，同时有一系列浮动的津贴，</a:t>
            </a:r>
            <a:endParaRPr lang="en-US" altLang="zh-CN" sz="1600" dirty="0"/>
          </a:p>
          <a:p>
            <a:pPr marL="914400" lvl="2" indent="0">
              <a:buNone/>
            </a:pPr>
            <a:r>
              <a:rPr lang="zh-CN" altLang="en-US" sz="1600" dirty="0"/>
              <a:t>包含工作时间补偿，子女补偿，老资历补偿等，同时还有小费和加班</a:t>
            </a:r>
            <a:endParaRPr lang="en-US" altLang="zh-CN" sz="1600" dirty="0"/>
          </a:p>
          <a:p>
            <a:pPr lvl="2"/>
            <a:r>
              <a:rPr lang="zh-CN" altLang="en-US" sz="1600" dirty="0"/>
              <a:t>信贷：内部的信贷机制，为成员提供无息贷款，以满足工人的基本需求，或者作</a:t>
            </a:r>
            <a:endParaRPr lang="en-US" altLang="zh-CN" sz="1600" dirty="0"/>
          </a:p>
          <a:p>
            <a:pPr marL="914400" lvl="2" indent="0">
              <a:buNone/>
            </a:pPr>
            <a:r>
              <a:rPr lang="zh-CN" altLang="en-US" sz="1600" dirty="0"/>
              <a:t>为大型单位来批量购买物资</a:t>
            </a:r>
            <a:endParaRPr lang="en-US" altLang="zh-CN" sz="1600" dirty="0"/>
          </a:p>
          <a:p>
            <a:pPr lvl="2"/>
            <a:r>
              <a:rPr lang="zh-CN" altLang="en-US" sz="1600" dirty="0"/>
              <a:t>时间：时间银行制度允许成员获得带薪休假替换加班费，是一个很聪明的金融创举</a:t>
            </a:r>
            <a:endParaRPr lang="en-US" altLang="zh-CN" sz="1600" dirty="0"/>
          </a:p>
          <a:p>
            <a:r>
              <a:rPr lang="zh-CN" altLang="en-US" sz="1600" dirty="0"/>
              <a:t>成就：</a:t>
            </a:r>
            <a:endParaRPr lang="en-US" altLang="zh-CN" sz="1600" dirty="0"/>
          </a:p>
          <a:p>
            <a:pPr lvl="1"/>
            <a:r>
              <a:rPr lang="zh-CN" altLang="en-US" sz="1600" b="1" dirty="0"/>
              <a:t>捍卫了生存尊严</a:t>
            </a:r>
            <a:r>
              <a:rPr lang="zh-CN" altLang="en-US" sz="1600" dirty="0"/>
              <a:t>：它在实践中捍卫了，清洁工刷马桶的一小时，和财务做账的</a:t>
            </a: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1600" dirty="0"/>
              <a:t>一小时，耗费的生命是一样的。这种制度极大地保护了那些在外部市场缺乏竞争力</a:t>
            </a: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1600" dirty="0"/>
              <a:t>的工人</a:t>
            </a:r>
            <a:endParaRPr lang="en-US" altLang="zh-CN" sz="1600" dirty="0"/>
          </a:p>
          <a:p>
            <a:pPr lvl="1"/>
            <a:r>
              <a:rPr lang="zh-CN" altLang="en-US" sz="1600" b="1" dirty="0"/>
              <a:t>重建了劳动价值：</a:t>
            </a:r>
            <a:r>
              <a:rPr lang="zh-CN" altLang="en-US" sz="1600" dirty="0"/>
              <a:t>成功将劳动从“可买卖的商品”还原为“为了集体生存的贡献”。</a:t>
            </a:r>
            <a:endParaRPr lang="en-US" altLang="zh-CN" sz="1600" dirty="0"/>
          </a:p>
          <a:p>
            <a:r>
              <a:rPr lang="zh-CN" altLang="en-US" sz="1800" b="1" dirty="0"/>
              <a:t>挑战：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搭便车问题对集体责任的逃避，产生不公感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信贷扩大导致的权力关系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过度工作，报酬过低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高级技术人才在外可以获得更高薪资，导致核心人才流失</a:t>
            </a:r>
            <a:endParaRPr lang="en-US" altLang="zh-CN" sz="1800" b="1" dirty="0"/>
          </a:p>
          <a:p>
            <a:pPr lvl="1"/>
            <a:r>
              <a:rPr lang="zh-CN" altLang="en-US" sz="1800" b="1" i="1" dirty="0"/>
              <a:t>我们该如何留下有能力的人？</a:t>
            </a:r>
            <a:endParaRPr lang="en-US" altLang="zh-CN" sz="1800" b="1" i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3BCEAF-BF6D-41BF-9CA9-21F25CEC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579" y="2623734"/>
            <a:ext cx="2569881" cy="360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9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809</Words>
  <Application>Microsoft Office PowerPoint</Application>
  <PresentationFormat>宽屏</PresentationFormat>
  <Paragraphs>59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《人民的酒店》</vt:lpstr>
      <vt:lpstr>在乌托邦里，谁去扔垃圾？  ——罗莎贝斯·莫斯·坎特(Rosabeth Moss Kanter), 《承诺与社区》</vt:lpstr>
      <vt:lpstr>现实版的“消灭分工”</vt:lpstr>
      <vt:lpstr>PowerPoint 演示文稿</vt:lpstr>
      <vt:lpstr>平等薪酬的政治 事实上，资本主义是建立在这样一种观念之上的:在平等和不稳定中，人们会受到激励，努力并坚持工作。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《人民的酒店》</dc:title>
  <dc:creator>仪</dc:creator>
  <cp:lastModifiedBy>仪</cp:lastModifiedBy>
  <cp:revision>29</cp:revision>
  <dcterms:created xsi:type="dcterms:W3CDTF">2026-03-07T14:23:25Z</dcterms:created>
  <dcterms:modified xsi:type="dcterms:W3CDTF">2026-03-08T11:09:44Z</dcterms:modified>
</cp:coreProperties>
</file>